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03504"/>
            <a:ext cx="109728" cy="109728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93776"/>
            <a:ext cx="54864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 i="0" spc="400">
                <a:solidFill>
                  <a:srgbClr val="8B929E"/>
                </a:solidFill>
                <a:latin typeface="Trebuchet MS"/>
              </a:rPr>
              <a:t>EDR ENDUROTECH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 i="0" spc="50">
                <a:solidFill>
                  <a:srgbClr val="E8EAED"/>
                </a:solidFill>
                <a:latin typeface="Trebuchet MS"/>
              </a:rPr>
              <a:t>ENDURANCE</a:t>
            </a:r>
          </a:p>
          <a:p>
            <a:pPr algn="l">
              <a:lnSpc>
                <a:spcPct val="98000"/>
              </a:lnSpc>
            </a:pPr>
            <a:r>
              <a:rPr sz="6400" b="1" i="0" spc="50">
                <a:solidFill>
                  <a:srgbClr val="E8EAED"/>
                </a:solidFill>
                <a:latin typeface="Trebuchet MS"/>
              </a:rPr>
              <a:t>TEAM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6052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C400"/>
                </a:solidFill>
                <a:latin typeface="Trebuchet MS"/>
              </a:rPr>
              <a:t>How the Pro / Casual system works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8B929E"/>
                </a:solidFill>
                <a:latin typeface="Calibri"/>
              </a:rPr>
              <a:t>A plain-language guide for EDR admins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943600"/>
            <a:ext cx="237744" cy="23774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907024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E8EAED"/>
                </a:solidFill>
                <a:latin typeface="Trebuchet MS"/>
              </a:rPr>
              <a:t>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5943600"/>
            <a:ext cx="237744" cy="237744"/>
          </a:xfrm>
          <a:prstGeom prst="rect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5907024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 i="0">
                <a:solidFill>
                  <a:srgbClr val="E8EAED"/>
                </a:solidFill>
                <a:latin typeface="Trebuchet MS"/>
              </a:rPr>
              <a:t>CASUAL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907024"/>
            <a:ext cx="484632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 b="0" i="0">
                <a:solidFill>
                  <a:srgbClr val="8B929E"/>
                </a:solidFill>
                <a:latin typeface="Consolas"/>
              </a:rPr>
              <a:t>Garage 61  ·  Team Builder  ·  iRacePlan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Three tools, one clear job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" y="192024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1920240"/>
            <a:ext cx="3520440" cy="109728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179" y="2231136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 spc="100">
                <a:solidFill>
                  <a:srgbClr val="FFC400"/>
                </a:solidFill>
                <a:latin typeface="Trebuchet MS"/>
              </a:rPr>
              <a:t>GARAGE 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179" y="2706624"/>
            <a:ext cx="3063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179" y="3154680"/>
            <a:ext cx="300837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Pulls every driver's practice laps: pace, lap count and clean-lap %, per car.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179" y="4617720"/>
            <a:ext cx="3008376" cy="411480"/>
          </a:xfrm>
          <a:prstGeom prst="roundRect">
            <a:avLst>
              <a:gd name="adj" fmla="val 12000"/>
            </a:avLst>
          </a:prstGeom>
          <a:solidFill>
            <a:srgbClr val="1B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195" y="4636008"/>
            <a:ext cx="28803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50" b="1" i="0">
                <a:solidFill>
                  <a:srgbClr val="FFC400"/>
                </a:solidFill>
                <a:latin typeface="Consolas"/>
              </a:rPr>
              <a:t>Owns the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192024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5627" y="1920240"/>
            <a:ext cx="3520440" cy="109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1659" y="2231136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 spc="100">
                <a:solidFill>
                  <a:srgbClr val="FFB020"/>
                </a:solidFill>
                <a:latin typeface="Trebuchet MS"/>
              </a:rPr>
              <a:t>TEAM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659" y="2706624"/>
            <a:ext cx="3063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THE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1659" y="3154680"/>
            <a:ext cx="300837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Turns that data into a Pro / Casual split for each car class, then balanced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1659" y="4617720"/>
            <a:ext cx="3008376" cy="411480"/>
          </a:xfrm>
          <a:prstGeom prst="roundRect">
            <a:avLst>
              <a:gd name="adj" fmla="val 12000"/>
            </a:avLst>
          </a:prstGeom>
          <a:solidFill>
            <a:srgbClr val="1B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9675" y="4636008"/>
            <a:ext cx="28803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50" b="1" i="0">
                <a:solidFill>
                  <a:srgbClr val="FFB020"/>
                </a:solidFill>
                <a:latin typeface="Consolas"/>
              </a:rPr>
              <a:t>Owns nothing — you feed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6107" y="192024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6107" y="1920240"/>
            <a:ext cx="3520440" cy="109728"/>
          </a:xfrm>
          <a:prstGeom prst="rect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139" y="2231136"/>
            <a:ext cx="3063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 spc="100">
                <a:solidFill>
                  <a:srgbClr val="5FB3D4"/>
                </a:solidFill>
                <a:latin typeface="Trebuchet MS"/>
              </a:rPr>
              <a:t>iRACEPLAN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139" y="2706624"/>
            <a:ext cx="3063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139" y="3154680"/>
            <a:ext cx="3008376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Holds the availability survey and builds the stint rotation across the race.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2139" y="4617720"/>
            <a:ext cx="3008376" cy="411480"/>
          </a:xfrm>
          <a:prstGeom prst="roundRect">
            <a:avLst>
              <a:gd name="adj" fmla="val 12000"/>
            </a:avLst>
          </a:prstGeom>
          <a:solidFill>
            <a:srgbClr val="1B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0155" y="4636008"/>
            <a:ext cx="28803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50" b="1" i="0">
                <a:solidFill>
                  <a:srgbClr val="5FB3D4"/>
                </a:solidFill>
                <a:latin typeface="Consolas"/>
              </a:rPr>
              <a:t>Owns availability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147" y="5532120"/>
            <a:ext cx="11201400" cy="713232"/>
          </a:xfrm>
          <a:prstGeom prst="roundRect">
            <a:avLst>
              <a:gd name="adj" fmla="val 8000"/>
            </a:avLst>
          </a:prstGeom>
          <a:solidFill>
            <a:srgbClr val="1B1F26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467" y="5532120"/>
            <a:ext cx="1065276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 i="0">
                <a:solidFill>
                  <a:srgbClr val="FFC400"/>
                </a:solidFill>
                <a:latin typeface="Trebuchet MS"/>
              </a:rPr>
              <a:t>KEY PRINCIPLE   </a:t>
            </a:r>
          </a:p>
          <a:p>
            <a:pPr algn="l"/>
            <a:r>
              <a:rPr sz="1350" b="0" i="0">
                <a:solidFill>
                  <a:srgbClr val="E8EAED"/>
                </a:solidFill>
                <a:latin typeface="Calibri"/>
              </a:rPr>
              <a:t>Performance and availability are kept separate. The builder only knows who has practised — not who is free to 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The workflow for an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14884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2327" y="2441448"/>
            <a:ext cx="640080" cy="640080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2459736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400" b="1" i="0">
                <a:solidFill>
                  <a:srgbClr val="0B0D10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2478024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 spc="100">
                <a:solidFill>
                  <a:srgbClr val="FFC400"/>
                </a:solidFill>
                <a:latin typeface="Trebuchet MS"/>
              </a:rPr>
              <a:t>PULL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9567" y="28986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GARAGE 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474720"/>
            <a:ext cx="28346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Run the pull script. It produces a roster.json — each driver's laps, pace and clean-% per 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1287" y="3154680"/>
            <a:ext cx="5029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8B929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207" y="214884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8527" y="2441448"/>
            <a:ext cx="640080" cy="6400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8527" y="2459736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400" b="1" i="0">
                <a:solidFill>
                  <a:srgbClr val="0B0D10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5767" y="2478024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 spc="100">
                <a:solidFill>
                  <a:srgbClr val="FFB020"/>
                </a:solidFill>
                <a:latin typeface="Trebuchet M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5767" y="28986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TEAM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3474720"/>
            <a:ext cx="28346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Import the roster. It ranks drivers, tags each Pro or Casual, and builds balanced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487" y="3154680"/>
            <a:ext cx="5029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000" b="1" i="0">
                <a:solidFill>
                  <a:srgbClr val="8B929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0407" y="214884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64727" y="2441448"/>
            <a:ext cx="640080" cy="640080"/>
          </a:xfrm>
          <a:prstGeom prst="ellipse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4727" y="2459736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400" b="1" i="0">
                <a:solidFill>
                  <a:srgbClr val="0B0D10"/>
                </a:solidFill>
                <a:latin typeface="Trebuchet M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1967" y="2478024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 spc="100">
                <a:solidFill>
                  <a:srgbClr val="5FB3D4"/>
                </a:solidFill>
                <a:latin typeface="Trebuchet MS"/>
              </a:rPr>
              <a:t>ASSIGN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1967" y="2898648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 i="0" spc="100">
                <a:solidFill>
                  <a:srgbClr val="8B929E"/>
                </a:solidFill>
                <a:latin typeface="Consolas"/>
              </a:rPr>
              <a:t>IRACEPLAN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4727" y="3474720"/>
            <a:ext cx="28346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8EAED"/>
                </a:solidFill>
                <a:latin typeface="Calibri"/>
              </a:rPr>
              <a:t>Carry the Pro / Casual labels in. iRacePlan shows availability and builds the stint rotation.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007" y="5532120"/>
            <a:ext cx="11155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 i="1">
                <a:solidFill>
                  <a:srgbClr val="8B929E"/>
                </a:solidFill>
                <a:latin typeface="Calibri"/>
              </a:rPr>
              <a:t>Back up every roster.json in the Planning folder — the files are the durable record, not any chat.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What we measure: three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8B929E"/>
                </a:solidFill>
                <a:latin typeface="Calibri"/>
              </a:rPr>
              <a:t>Every driver is scored on three things, each pulled straight from Garage 61 practice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228600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286000"/>
            <a:ext cx="109728" cy="310896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60604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 i="0" spc="100">
                <a:solidFill>
                  <a:srgbClr val="FFC400"/>
                </a:solidFill>
                <a:latin typeface="Trebuchet MS"/>
              </a:rPr>
              <a:t>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8267" y="2596896"/>
            <a:ext cx="118872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Consolas"/>
              </a:rPr>
              <a:t>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8267" y="2788920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2200" b="1" i="0">
                <a:solidFill>
                  <a:srgbClr val="FFC400"/>
                </a:solidFill>
                <a:latin typeface="Trebuchet MS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520440"/>
            <a:ext cx="2880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Calibri"/>
              </a:rPr>
              <a:t>Median clean lap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87" y="4069080"/>
            <a:ext cx="288036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B929E"/>
                </a:solidFill>
                <a:latin typeface="Calibri"/>
              </a:rPr>
              <a:t>Faster lap = higher score. The single biggest factor.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627" y="228600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5627" y="2286000"/>
            <a:ext cx="109728" cy="3108960"/>
          </a:xfrm>
          <a:prstGeom prst="rect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667" y="260604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 i="0" spc="100">
                <a:solidFill>
                  <a:srgbClr val="5FB3D4"/>
                </a:solidFill>
                <a:latin typeface="Trebuchet M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2596896"/>
            <a:ext cx="118872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Consolas"/>
              </a:rP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788920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2200" b="1" i="0">
                <a:solidFill>
                  <a:srgbClr val="5FB3D4"/>
                </a:solidFill>
                <a:latin typeface="Trebuchet MS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667" y="3520440"/>
            <a:ext cx="2880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Calibri"/>
              </a:rPr>
              <a:t>Clean-lap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5667" y="4069080"/>
            <a:ext cx="288036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B929E"/>
                </a:solidFill>
                <a:latin typeface="Calibri"/>
              </a:rPr>
              <a:t>The share of laps with no off-track or wall contact. Tidier = higher.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6107" y="228600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6107" y="2286000"/>
            <a:ext cx="109728" cy="310896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6147" y="260604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 i="0" spc="100">
                <a:solidFill>
                  <a:srgbClr val="36D399"/>
                </a:solidFill>
                <a:latin typeface="Trebuchet MS"/>
              </a:rPr>
              <a:t>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9227" y="2596896"/>
            <a:ext cx="118872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50" b="0" i="0">
                <a:solidFill>
                  <a:srgbClr val="8B929E"/>
                </a:solidFill>
                <a:latin typeface="Consolas"/>
              </a:rP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9227" y="2788920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2200" b="1" i="0">
                <a:solidFill>
                  <a:srgbClr val="36D399"/>
                </a:solidFill>
                <a:latin typeface="Trebuchet MS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147" y="3520440"/>
            <a:ext cx="2880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Calibri"/>
              </a:rPr>
              <a:t>Number of practice laps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147" y="4069080"/>
            <a:ext cx="288036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B929E"/>
                </a:solidFill>
                <a:latin typeface="Calibri"/>
              </a:rPr>
              <a:t>More laps run = higher. Rewards who has put in the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147" y="5623560"/>
            <a:ext cx="11201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 i="1">
                <a:solidFill>
                  <a:srgbClr val="8B929E"/>
                </a:solidFill>
                <a:latin typeface="Calibri"/>
              </a:rPr>
              <a:t>The weights are sliders — admins can dial pace up or down to taste before generating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How the score is calculated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1143000"/>
          </a:xfrm>
          <a:prstGeom prst="roundRect">
            <a:avLst>
              <a:gd name="adj" fmla="val 6000"/>
            </a:avLst>
          </a:prstGeom>
          <a:solidFill>
            <a:srgbClr val="1B1F26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08792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400" b="1" i="0">
                <a:solidFill>
                  <a:srgbClr val="E8EAED"/>
                </a:solidFill>
                <a:latin typeface="Consolas"/>
              </a:rPr>
              <a:t>score</a:t>
            </a:r>
            <a:r>
              <a:rPr sz="2400" b="0" i="0">
                <a:solidFill>
                  <a:srgbClr val="8B929E"/>
                </a:solidFill>
                <a:latin typeface="Consolas"/>
              </a:rPr>
              <a:t>  =  </a:t>
            </a:r>
            <a:r>
              <a:rPr sz="2400" b="1" i="0">
                <a:solidFill>
                  <a:srgbClr val="FFC400"/>
                </a:solidFill>
                <a:latin typeface="Consolas"/>
              </a:rPr>
              <a:t>pace</a:t>
            </a:r>
            <a:r>
              <a:rPr sz="2400" b="0" i="0">
                <a:solidFill>
                  <a:srgbClr val="8B929E"/>
                </a:solidFill>
                <a:latin typeface="Consolas"/>
              </a:rPr>
              <a:t>×Wpace  +  </a:t>
            </a:r>
            <a:r>
              <a:rPr sz="2400" b="1" i="0">
                <a:solidFill>
                  <a:srgbClr val="5FB3D4"/>
                </a:solidFill>
                <a:latin typeface="Consolas"/>
              </a:rPr>
              <a:t>clean</a:t>
            </a:r>
            <a:r>
              <a:rPr sz="2400" b="0" i="0">
                <a:solidFill>
                  <a:srgbClr val="8B929E"/>
                </a:solidFill>
                <a:latin typeface="Consolas"/>
              </a:rPr>
              <a:t>×Wclean  +  </a:t>
            </a:r>
            <a:r>
              <a:rPr sz="2400" b="1" i="0">
                <a:solidFill>
                  <a:srgbClr val="36D399"/>
                </a:solidFill>
                <a:latin typeface="Consolas"/>
              </a:rPr>
              <a:t>prep</a:t>
            </a:r>
            <a:r>
              <a:rPr sz="2400" b="0" i="0">
                <a:solidFill>
                  <a:srgbClr val="8B929E"/>
                </a:solidFill>
                <a:latin typeface="Consolas"/>
              </a:rPr>
              <a:t>×Wprep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 spc="100">
                <a:solidFill>
                  <a:srgbClr val="FFC400"/>
                </a:solidFill>
                <a:latin typeface="Trebuchet MS"/>
              </a:rPr>
              <a:t>STEP 1 — NORMALISE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8463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i="0">
                <a:solidFill>
                  <a:srgbClr val="E8EAED"/>
                </a:solidFill>
                <a:latin typeface="Calibri"/>
              </a:rPr>
              <a:t>Each signal is scaled to a 0–1 score, comparing each driver only against others in the same class.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8B929E"/>
                </a:solidFill>
                <a:latin typeface="Calibri"/>
              </a:rPr>
              <a:t>Fastest in class → 1.0 on pace. Most laps → 1.0 on prep. And so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24612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47472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 spc="100">
                <a:solidFill>
                  <a:srgbClr val="FFB020"/>
                </a:solidFill>
                <a:latin typeface="Trebuchet MS"/>
              </a:rPr>
              <a:t>STEP 2 — WEIGHT &amp;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931920"/>
            <a:ext cx="48463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 b="0" i="0">
                <a:solidFill>
                  <a:srgbClr val="E8EAED"/>
                </a:solidFill>
                <a:latin typeface="Calibri"/>
              </a:rPr>
              <a:t>The three 0–1 scores are blended using the weights, giving one number per driver.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8B929E"/>
                </a:solidFill>
                <a:latin typeface="Calibri"/>
              </a:rPr>
              <a:t>Drivers are then ranked within their class by that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Always compared within a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8B929E"/>
                </a:solidFill>
                <a:latin typeface="Calibri"/>
              </a:rPr>
              <a:t>A GTP lap is never ranked against a GT3 lap. Pace, prep and clean are normalised inside each class — never across.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109728" cy="86868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 i="0" spc="100">
                <a:solidFill>
                  <a:srgbClr val="FFC400"/>
                </a:solidFill>
                <a:latin typeface="Trebuchet MS"/>
              </a:rPr>
              <a:t>GTP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14600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 i="0">
                <a:solidFill>
                  <a:srgbClr val="E8EAED"/>
                </a:solidFill>
                <a:latin typeface="Calibri"/>
              </a:rPr>
              <a:t>Acura ARX-06, Cadillac V-Series.R, Porsche 963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109728" cy="868680"/>
          </a:xfrm>
          <a:prstGeom prst="rect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 i="0" spc="100">
                <a:solidFill>
                  <a:srgbClr val="5FB3D4"/>
                </a:solidFill>
                <a:latin typeface="Trebuchet MS"/>
              </a:rPr>
              <a:t>LMP2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566160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 i="0">
                <a:solidFill>
                  <a:srgbClr val="E8EAED"/>
                </a:solidFill>
                <a:latin typeface="Calibri"/>
              </a:rPr>
              <a:t>Dallara P217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10908792" cy="868680"/>
          </a:xfrm>
          <a:prstGeom prst="roundRect">
            <a:avLst>
              <a:gd name="adj" fmla="val 8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109728" cy="86868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200" b="1" i="0" spc="100">
                <a:solidFill>
                  <a:srgbClr val="36D399"/>
                </a:solidFill>
                <a:latin typeface="Trebuchet MS"/>
              </a:rPr>
              <a:t>GT3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17720"/>
            <a:ext cx="8229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50" b="0" i="0">
                <a:solidFill>
                  <a:srgbClr val="E8EAED"/>
                </a:solidFill>
                <a:latin typeface="Calibri"/>
              </a:rPr>
              <a:t>Ferrari 296, BMW M4 EVO, Porsche 911, Merc-AMG, Aston, Mustang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1">
                <a:solidFill>
                  <a:srgbClr val="8B929E"/>
                </a:solidFill>
                <a:latin typeface="Calibri"/>
              </a:rPr>
              <a:t>The class is read automatically from the car name (e.g. “GTP”, “P217”, “GT3”).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The Pro / Casual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8B929E"/>
                </a:solidFill>
                <a:latin typeface="Calibri"/>
              </a:rPr>
              <a:t>Within each class, ranked drivers are split: the top slice become </a:t>
            </a:r>
            <a:r>
              <a:rPr sz="1500" b="1" i="0">
                <a:solidFill>
                  <a:srgbClr val="FFB020"/>
                </a:solidFill>
                <a:latin typeface="Calibri"/>
              </a:rPr>
              <a:t>Pro</a:t>
            </a:r>
            <a:r>
              <a:rPr sz="1500" b="0" i="0">
                <a:solidFill>
                  <a:srgbClr val="8B929E"/>
                </a:solidFill>
                <a:latin typeface="Calibri"/>
              </a:rPr>
              <a:t>, the rest </a:t>
            </a:r>
            <a:r>
              <a:rPr sz="1500" b="1" i="0">
                <a:solidFill>
                  <a:srgbClr val="5FB3D4"/>
                </a:solidFill>
                <a:latin typeface="Calibri"/>
              </a:rPr>
              <a:t>Casual</a:t>
            </a:r>
            <a:r>
              <a:rPr sz="1500" b="0" i="0">
                <a:solidFill>
                  <a:srgbClr val="8B929E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6335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335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17039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7039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7743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7743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8447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8447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9151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9151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855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9855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0559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0559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1263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1263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41967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1967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2671" y="2651760"/>
            <a:ext cx="932688" cy="1371600"/>
          </a:xfrm>
          <a:prstGeom prst="roundRect">
            <a:avLst>
              <a:gd name="adj" fmla="val 12000"/>
            </a:avLst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2671" y="2651760"/>
            <a:ext cx="932688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 i="0">
                <a:solidFill>
                  <a:srgbClr val="0B0D10"/>
                </a:solidFill>
                <a:latin typeface="Trebuchet MS"/>
              </a:rPr>
              <a:t>#10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335" y="4133088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 i="0">
                <a:solidFill>
                  <a:srgbClr val="FFB020"/>
                </a:solidFill>
                <a:latin typeface="Consolas"/>
              </a:rPr>
              <a:t>↑ highest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7759" y="4133088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200" b="0" i="0">
                <a:solidFill>
                  <a:srgbClr val="5FB3D4"/>
                </a:solidFill>
                <a:latin typeface="Consolas"/>
              </a:rPr>
              <a:t>lowest score 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335" y="4800600"/>
            <a:ext cx="10479024" cy="1051560"/>
          </a:xfrm>
          <a:prstGeom prst="roundRect">
            <a:avLst>
              <a:gd name="adj" fmla="val 6000"/>
            </a:avLst>
          </a:prstGeom>
          <a:solidFill>
            <a:srgbClr val="1B1F26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335" y="4892040"/>
            <a:ext cx="10479024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 i="0">
                <a:solidFill>
                  <a:srgbClr val="E8EAED"/>
                </a:solidFill>
                <a:latin typeface="Trebuchet MS"/>
              </a:rPr>
              <a:t>PRO = TOP </a:t>
            </a:r>
            <a:r>
              <a:rPr sz="1600" b="1" i="0">
                <a:solidFill>
                  <a:srgbClr val="FFB020"/>
                </a:solidFill>
                <a:latin typeface="Trebuchet MS"/>
              </a:rPr>
              <a:t>X%</a:t>
            </a:r>
            <a:r>
              <a:rPr sz="1600" b="1" i="0">
                <a:solidFill>
                  <a:srgbClr val="E8EAED"/>
                </a:solidFill>
                <a:latin typeface="Trebuchet MS"/>
              </a:rPr>
              <a:t>  OF EACH 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215" y="5349240"/>
            <a:ext cx="10113263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8B929E"/>
                </a:solidFill>
                <a:latin typeface="Calibri"/>
              </a:rPr>
              <a:t>Default cutoff is 40% (shown above). It's a slider — slide it up for more Pro entries, down for fewer.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Building balanced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8B929E"/>
                </a:solidFill>
                <a:latin typeface="Calibri"/>
              </a:rPr>
              <a:t>Inside each tier, drivers are dealt into multi-driver car entries using a snake draft, so talent is spread evenly — no stacked car.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 i="0" spc="100">
                <a:solidFill>
                  <a:srgbClr val="FFC400"/>
                </a:solidFill>
                <a:latin typeface="Trebuchet MS"/>
              </a:rPr>
              <a:t>SNAKE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FFC400"/>
                </a:solidFill>
                <a:latin typeface="Consolas"/>
              </a:rPr>
              <a:t>Pick 1 → Car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21024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5FB3D4"/>
                </a:solidFill>
                <a:latin typeface="Consolas"/>
              </a:rPr>
              <a:t>Pick 2 → Car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50208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5FB3D4"/>
                </a:solidFill>
                <a:latin typeface="Consolas"/>
              </a:rPr>
              <a:t>Pick 3 → Car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79392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FFC400"/>
                </a:solidFill>
                <a:latin typeface="Consolas"/>
              </a:rPr>
              <a:t>Pick 4 → Car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608576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FFC400"/>
                </a:solidFill>
                <a:latin typeface="Consolas"/>
              </a:rPr>
              <a:t>Pick 5 → Car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937760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 i="0">
                <a:solidFill>
                  <a:srgbClr val="5FB3D4"/>
                </a:solidFill>
                <a:latin typeface="Consolas"/>
              </a:rPr>
              <a:t>Pick 6 → Car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0352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50" b="0" i="1">
                <a:solidFill>
                  <a:srgbClr val="8B929E"/>
                </a:solidFill>
                <a:latin typeface="Calibri"/>
              </a:rPr>
              <a:t>order reverses each round ⇅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770632"/>
            <a:ext cx="146304" cy="14630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6609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E8EAED"/>
                </a:solidFill>
                <a:latin typeface="Trebuchet MS"/>
              </a:rPr>
              <a:t>Strongest and weakest balance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08376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B929E"/>
                </a:solidFill>
                <a:latin typeface="Calibri"/>
              </a:rPr>
              <a:t>Each car ends with a fair mix of the tier's pace.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685032"/>
            <a:ext cx="146304" cy="14630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5753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E8EAED"/>
                </a:solidFill>
                <a:latin typeface="Trebuchet MS"/>
              </a:rPr>
              <a:t>Separate pools per class &amp;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22776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B929E"/>
                </a:solidFill>
                <a:latin typeface="Calibri"/>
              </a:rPr>
              <a:t>Pro and Casual are drafted independently, class by class.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4599432"/>
            <a:ext cx="146304" cy="14630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9704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E8EAED"/>
                </a:solidFill>
                <a:latin typeface="Trebuchet MS"/>
              </a:rPr>
              <a:t>Team sizes auto-fit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37176"/>
            <a:ext cx="48463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B929E"/>
                </a:solidFill>
                <a:latin typeface="Calibri"/>
              </a:rPr>
              <a:t>Drivers are grouped into entries of ~2–3, sized to the pool.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100584" cy="100584"/>
          </a:xfrm>
          <a:prstGeom prst="ellipse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36576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1" i="0" spc="300">
                <a:solidFill>
                  <a:srgbClr val="8B929E"/>
                </a:solidFill>
                <a:latin typeface="Trebuchet MS"/>
              </a:rPr>
              <a:t>PIT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 i="0" spc="50">
                <a:solidFill>
                  <a:srgbClr val="E8EAED"/>
                </a:solidFill>
                <a:latin typeface="Trebuchet MS"/>
              </a:rPr>
              <a:t>What it does — and doesn't —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349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 spc="100">
                <a:solidFill>
                  <a:srgbClr val="36D399"/>
                </a:solidFill>
                <a:latin typeface="Trebuchet MS"/>
              </a:rPr>
              <a:t>WHAT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91440" cy="1188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Admins stay in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Move any driver between cars, reassign their car, or remove them — the tool just proposes a starting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91440" cy="1188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Clean-lap ratio, not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59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“Cleanliness” uses Garage 61's clean-lap %, not iRacing incident points — one simple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91440" cy="118872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Saved on your computer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The roster and settings persist locally in the browser. Share the HTML file to share the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600200"/>
            <a:ext cx="5349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 spc="100">
                <a:solidFill>
                  <a:srgbClr val="F04A5A"/>
                </a:solidFill>
                <a:latin typeface="Trebuchet MS"/>
              </a:rPr>
              <a:t>WHERE IT STOPS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14884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148840"/>
            <a:ext cx="91440" cy="1188720"/>
          </a:xfrm>
          <a:prstGeom prst="rect">
            <a:avLst/>
          </a:prstGeom>
          <a:solidFill>
            <a:srgbClr val="F0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29514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It does NOT know 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697480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Who's free for which stint lives only in iRacePlan and can't be exported — so scheduling stays there.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47472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474720"/>
            <a:ext cx="91440" cy="1188720"/>
          </a:xfrm>
          <a:prstGeom prst="rect">
            <a:avLst/>
          </a:prstGeom>
          <a:solidFill>
            <a:srgbClr val="F0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62102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It does NOT pull data itself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023359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You feed it the roster.json from the Garage 61 pull; the builder never calls the API.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80060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800600"/>
            <a:ext cx="91440" cy="1188720"/>
          </a:xfrm>
          <a:prstGeom prst="rect">
            <a:avLst/>
          </a:prstGeom>
          <a:solidFill>
            <a:srgbClr val="F0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946904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50" b="1" i="0">
                <a:solidFill>
                  <a:srgbClr val="E8EAED"/>
                </a:solidFill>
                <a:latin typeface="Trebuchet MS"/>
              </a:rPr>
              <a:t>It does NOT pick the final lineup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349240"/>
            <a:ext cx="484632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B929E"/>
                </a:solidFill>
                <a:latin typeface="Calibri"/>
              </a:rPr>
              <a:t>It ranks and balances on performance. The human call — and timing — happens in iRacePlan.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 spc="300">
                <a:solidFill>
                  <a:srgbClr val="FFB020"/>
                </a:solidFill>
                <a:latin typeface="Trebuchet MS"/>
              </a:rPr>
              <a:t>THE WHOLE THING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C400"/>
                </a:solidFill>
                <a:latin typeface="Trebuchet MS"/>
              </a:rPr>
              <a:t>Garage 61 </a:t>
            </a:r>
            <a:r>
              <a:rPr sz="2800" b="1" i="0">
                <a:solidFill>
                  <a:srgbClr val="E8EAED"/>
                </a:solidFill>
                <a:latin typeface="Trebuchet MS"/>
              </a:rPr>
              <a:t>measures pace, prep &amp; cleanliness   →   </a:t>
            </a:r>
            <a:r>
              <a:rPr sz="2800" b="1" i="0">
                <a:solidFill>
                  <a:srgbClr val="FFB020"/>
                </a:solidFill>
                <a:latin typeface="Trebuchet MS"/>
              </a:rPr>
              <a:t>Team Builder </a:t>
            </a:r>
            <a:r>
              <a:rPr sz="2800" b="1" i="0">
                <a:solidFill>
                  <a:srgbClr val="E8EAED"/>
                </a:solidFill>
                <a:latin typeface="Trebuchet MS"/>
              </a:rPr>
              <a:t>ranks within class and splits Pro / Casual   →   </a:t>
            </a:r>
            <a:r>
              <a:rPr sz="2800" b="1" i="0">
                <a:solidFill>
                  <a:srgbClr val="5FB3D4"/>
                </a:solidFill>
                <a:latin typeface="Trebuchet MS"/>
              </a:rPr>
              <a:t>iRacePlan </a:t>
            </a:r>
            <a:r>
              <a:rPr sz="2800" b="1" i="0">
                <a:solidFill>
                  <a:srgbClr val="E8EAED"/>
                </a:solidFill>
                <a:latin typeface="Trebuchet MS"/>
              </a:rPr>
              <a:t>handles availability &amp; stints.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023360"/>
            <a:ext cx="2670048" cy="1280160"/>
          </a:xfrm>
          <a:prstGeom prst="roundRect">
            <a:avLst>
              <a:gd name="adj" fmla="val 6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2670048" cy="91440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4279392"/>
            <a:ext cx="230428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100">
                <a:solidFill>
                  <a:srgbClr val="8B929E"/>
                </a:solidFill>
                <a:latin typeface="Consolas"/>
              </a:rPr>
              <a:t>TEAM SLUG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4626864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C400"/>
                </a:solidFill>
                <a:latin typeface="Trebuchet MS"/>
              </a:rPr>
              <a:t>edr-endurotech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4023360"/>
            <a:ext cx="2670048" cy="1280160"/>
          </a:xfrm>
          <a:prstGeom prst="roundRect">
            <a:avLst>
              <a:gd name="adj" fmla="val 6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4023360"/>
            <a:ext cx="2670048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4279392"/>
            <a:ext cx="230428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100">
                <a:solidFill>
                  <a:srgbClr val="8B929E"/>
                </a:solidFill>
                <a:latin typeface="Consolas"/>
              </a:rPr>
              <a:t>SCORE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4626864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020"/>
                </a:solidFill>
                <a:latin typeface="Trebuchet MS"/>
              </a:rPr>
              <a:t>Pace 50 / Clean 30 / Prep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23360"/>
            <a:ext cx="2670048" cy="1280160"/>
          </a:xfrm>
          <a:prstGeom prst="roundRect">
            <a:avLst>
              <a:gd name="adj" fmla="val 6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023360"/>
            <a:ext cx="2670048" cy="91440"/>
          </a:xfrm>
          <a:prstGeom prst="rect">
            <a:avLst/>
          </a:prstGeom>
          <a:solidFill>
            <a:srgbClr val="5FB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279392"/>
            <a:ext cx="230428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100">
                <a:solidFill>
                  <a:srgbClr val="8B929E"/>
                </a:solidFill>
                <a:latin typeface="Consolas"/>
              </a:rPr>
              <a:t>PRO CUTOFF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626864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FB3D4"/>
                </a:solidFill>
                <a:latin typeface="Trebuchet MS"/>
              </a:rPr>
              <a:t>Top 40% per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4023360"/>
            <a:ext cx="2670048" cy="1280160"/>
          </a:xfrm>
          <a:prstGeom prst="roundRect">
            <a:avLst>
              <a:gd name="adj" fmla="val 6000"/>
            </a:avLst>
          </a:prstGeom>
          <a:solidFill>
            <a:srgbClr val="14171C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59" y="4023360"/>
            <a:ext cx="2670048" cy="91440"/>
          </a:xfrm>
          <a:prstGeom prst="rect">
            <a:avLst/>
          </a:prstGeom>
          <a:solidFill>
            <a:srgbClr val="36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4279392"/>
            <a:ext cx="230428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50" b="1" i="0" spc="100">
                <a:solidFill>
                  <a:srgbClr val="8B929E"/>
                </a:solidFill>
                <a:latin typeface="Consolas"/>
              </a:rPr>
              <a:t>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4626864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6D399"/>
                </a:solidFill>
                <a:latin typeface="Trebuchet MS"/>
              </a:rPr>
              <a:t>GTP · LMP2 · GT3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1">
                <a:solidFill>
                  <a:srgbClr val="8B929E"/>
                </a:solidFill>
                <a:latin typeface="Calibri"/>
              </a:rPr>
              <a:t>The reliable memory is the files in EDR/Planning, not any chat — keep them in iCloud so they sync and never vanish.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